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82" r:id="rId2"/>
    <p:sldId id="419" r:id="rId3"/>
    <p:sldId id="448" r:id="rId4"/>
    <p:sldId id="450" r:id="rId5"/>
    <p:sldId id="445" r:id="rId6"/>
    <p:sldId id="451" r:id="rId7"/>
    <p:sldId id="446" r:id="rId8"/>
    <p:sldId id="447" r:id="rId9"/>
    <p:sldId id="444" r:id="rId10"/>
    <p:sldId id="438" r:id="rId11"/>
    <p:sldId id="440" r:id="rId12"/>
    <p:sldId id="441" r:id="rId13"/>
    <p:sldId id="443" r:id="rId14"/>
    <p:sldId id="442" r:id="rId15"/>
    <p:sldId id="449" r:id="rId16"/>
    <p:sldId id="43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-320" y="-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31A80-1332-475A-A304-98156AB4A45D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E7C0CD-48A9-442C-882A-28B99E928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190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1</a:t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6DD689-74C3-0C7E-0FAC-0F791BA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xmlns="" id="{3D8E5885-DD8E-E136-CA2F-60AF5009A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48FC3D-AD59-AA0E-9854-8AB0EDFE1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4D50C85D-641C-E53A-27C9-79D5F6C9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6DD689-74C3-0C7E-0FAC-0F791BA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xmlns="" id="{3D8E5885-DD8E-E136-CA2F-60AF5009A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48FC3D-AD59-AA0E-9854-8AB0EDFE1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4D50C85D-641C-E53A-27C9-79D5F6C9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6DD689-74C3-0C7E-0FAC-0F791BA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xmlns="" id="{3D8E5885-DD8E-E136-CA2F-60AF5009A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48FC3D-AD59-AA0E-9854-8AB0EDFE1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4D50C85D-641C-E53A-27C9-79D5F6C9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6DD689-74C3-0C7E-0FAC-0F791BA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xmlns="" id="{3D8E5885-DD8E-E136-CA2F-60AF5009A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48FC3D-AD59-AA0E-9854-8AB0EDFE1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4D50C85D-641C-E53A-27C9-79D5F6C9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6DD689-74C3-0C7E-0FAC-0F791BA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xmlns="" id="{3D8E5885-DD8E-E136-CA2F-60AF5009A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48FC3D-AD59-AA0E-9854-8AB0EDFE1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4D50C85D-641C-E53A-27C9-79D5F6C9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6DD689-74C3-0C7E-0FAC-0F791BA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xmlns="" id="{3D8E5885-DD8E-E136-CA2F-60AF5009A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48FC3D-AD59-AA0E-9854-8AB0EDFE1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4D50C85D-641C-E53A-27C9-79D5F6C9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6DD689-74C3-0C7E-0FAC-0F791BA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xmlns="" id="{3D8E5885-DD8E-E136-CA2F-60AF5009A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48FC3D-AD59-AA0E-9854-8AB0EDFE1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4D50C85D-641C-E53A-27C9-79D5F6C9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6DD689-74C3-0C7E-0FAC-0F791BA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xmlns="" id="{3D8E5885-DD8E-E136-CA2F-60AF5009A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48FC3D-AD59-AA0E-9854-8AB0EDFE1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4D50C85D-641C-E53A-27C9-79D5F6C9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6DD689-74C3-0C7E-0FAC-0F791BA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xmlns="" id="{3D8E5885-DD8E-E136-CA2F-60AF5009A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48FC3D-AD59-AA0E-9854-8AB0EDFE1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4D50C85D-641C-E53A-27C9-79D5F6C9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6DD689-74C3-0C7E-0FAC-0F791BA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xmlns="" id="{3D8E5885-DD8E-E136-CA2F-60AF5009A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48FC3D-AD59-AA0E-9854-8AB0EDFE1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4D50C85D-641C-E53A-27C9-79D5F6C9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6DD689-74C3-0C7E-0FAC-0F791BA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xmlns="" id="{3D8E5885-DD8E-E136-CA2F-60AF5009A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48FC3D-AD59-AA0E-9854-8AB0EDFE1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4D50C85D-641C-E53A-27C9-79D5F6C9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6DD689-74C3-0C7E-0FAC-0F791BA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xmlns="" id="{3D8E5885-DD8E-E136-CA2F-60AF5009A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13</a:t>
            </a:fld>
            <a:endParaRPr lang="en-US" altLang="en-US" sz="1200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48FC3D-AD59-AA0E-9854-8AB0EDFE1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4D50C85D-641C-E53A-27C9-79D5F6C9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6DD689-74C3-0C7E-0FAC-0F791BA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xmlns="" id="{3D8E5885-DD8E-E136-CA2F-60AF5009A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14</a:t>
            </a:fld>
            <a:endParaRPr lang="en-US" altLang="en-US" sz="1200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48FC3D-AD59-AA0E-9854-8AB0EDFE1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4D50C85D-641C-E53A-27C9-79D5F6C9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6DD689-74C3-0C7E-0FAC-0F791BA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xmlns="" id="{3D8E5885-DD8E-E136-CA2F-60AF5009A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48FC3D-AD59-AA0E-9854-8AB0EDFE1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4D50C85D-641C-E53A-27C9-79D5F6C9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476AA-11CD-4EE2-A603-C64EA4F6692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CCA9-1A0E-4DBC-AB68-09E9ED322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210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476AA-11CD-4EE2-A603-C64EA4F6692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CCA9-1A0E-4DBC-AB68-09E9ED32205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xmlns="" id="{64CBBD85-0A91-C1B8-327B-0C171D65F23F}"/>
              </a:ext>
            </a:extLst>
          </p:cNvPr>
          <p:cNvSpPr txBox="1">
            <a:spLocks/>
          </p:cNvSpPr>
          <p:nvPr userDrawn="1"/>
        </p:nvSpPr>
        <p:spPr>
          <a:xfrm>
            <a:off x="761901" y="6183157"/>
            <a:ext cx="2895223" cy="533524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700" b="1" dirty="0">
                <a:solidFill>
                  <a:srgbClr val="0000FF"/>
                </a:solidFill>
              </a:rPr>
              <a:t>Dr. NGPASC</a:t>
            </a:r>
          </a:p>
          <a:p>
            <a:pPr>
              <a:defRPr/>
            </a:pPr>
            <a:r>
              <a:rPr lang="en-US" sz="1400" b="1" dirty="0">
                <a:solidFill>
                  <a:srgbClr val="0000FF"/>
                </a:solidFill>
              </a:rPr>
              <a:t>COIMBATORE | INDIA</a:t>
            </a:r>
          </a:p>
          <a:p>
            <a:pPr algn="ctr">
              <a:defRPr/>
            </a:pPr>
            <a:endParaRPr lang="en-US" sz="1700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8" name="Picture 2" descr="C:\Users\Staff\Desktop\NGP_Arts_Logo-Background Removed.png">
            <a:extLst>
              <a:ext uri="{FF2B5EF4-FFF2-40B4-BE49-F238E27FC236}">
                <a16:creationId xmlns:a16="http://schemas.microsoft.com/office/drawing/2014/main" xmlns="" id="{B760F7D9-30A7-EA9E-B351-95BE245B75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190" y="6097423"/>
            <a:ext cx="690473" cy="6907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53082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476AA-11CD-4EE2-A603-C64EA4F6692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CCA9-1A0E-4DBC-AB68-09E9ED32205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xmlns="" id="{DACB29E7-363B-8D9D-F049-F3BDED047FB2}"/>
              </a:ext>
            </a:extLst>
          </p:cNvPr>
          <p:cNvSpPr txBox="1">
            <a:spLocks/>
          </p:cNvSpPr>
          <p:nvPr userDrawn="1"/>
        </p:nvSpPr>
        <p:spPr>
          <a:xfrm>
            <a:off x="761901" y="6183157"/>
            <a:ext cx="2895223" cy="533524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700" b="1" dirty="0">
                <a:solidFill>
                  <a:srgbClr val="0000FF"/>
                </a:solidFill>
              </a:rPr>
              <a:t>Dr. NGPASC</a:t>
            </a:r>
          </a:p>
          <a:p>
            <a:pPr>
              <a:defRPr/>
            </a:pPr>
            <a:r>
              <a:rPr lang="en-US" sz="1400" b="1" dirty="0">
                <a:solidFill>
                  <a:srgbClr val="0000FF"/>
                </a:solidFill>
              </a:rPr>
              <a:t>COIMBATORE | INDIA</a:t>
            </a:r>
          </a:p>
          <a:p>
            <a:pPr algn="ctr">
              <a:defRPr/>
            </a:pPr>
            <a:endParaRPr lang="en-US" sz="1700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8" name="Picture 2" descr="C:\Users\Staff\Desktop\NGP_Arts_Logo-Background Removed.png">
            <a:extLst>
              <a:ext uri="{FF2B5EF4-FFF2-40B4-BE49-F238E27FC236}">
                <a16:creationId xmlns:a16="http://schemas.microsoft.com/office/drawing/2014/main" xmlns="" id="{4C04AB14-2E3A-CA4F-4DDC-E6CA568C75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190" y="6097423"/>
            <a:ext cx="690473" cy="6907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83624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476AA-11CD-4EE2-A603-C64EA4F6692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CCA9-1A0E-4DBC-AB68-09E9ED32205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0EE2204-36C1-B8B5-5A15-D80EF6425B83}"/>
              </a:ext>
            </a:extLst>
          </p:cNvPr>
          <p:cNvSpPr txBox="1">
            <a:spLocks/>
          </p:cNvSpPr>
          <p:nvPr userDrawn="1"/>
        </p:nvSpPr>
        <p:spPr>
          <a:xfrm>
            <a:off x="761901" y="6183157"/>
            <a:ext cx="2895223" cy="533524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700" b="1" dirty="0">
                <a:solidFill>
                  <a:srgbClr val="0000FF"/>
                </a:solidFill>
              </a:rPr>
              <a:t>Dr. NGPASC</a:t>
            </a:r>
          </a:p>
          <a:p>
            <a:pPr>
              <a:defRPr/>
            </a:pPr>
            <a:r>
              <a:rPr lang="en-US" sz="1400" b="1" dirty="0">
                <a:solidFill>
                  <a:srgbClr val="0000FF"/>
                </a:solidFill>
              </a:rPr>
              <a:t>COIMBATORE | INDIA</a:t>
            </a:r>
          </a:p>
          <a:p>
            <a:pPr algn="ctr">
              <a:defRPr/>
            </a:pPr>
            <a:endParaRPr lang="en-US" sz="1700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9" name="Picture 2" descr="C:\Users\Staff\Desktop\NGP_Arts_Logo-Background Removed.png">
            <a:extLst>
              <a:ext uri="{FF2B5EF4-FFF2-40B4-BE49-F238E27FC236}">
                <a16:creationId xmlns:a16="http://schemas.microsoft.com/office/drawing/2014/main" xmlns="" id="{0888234A-7EA5-28FB-B156-8E8912A904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190" y="6097423"/>
            <a:ext cx="690473" cy="6907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62714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476AA-11CD-4EE2-A603-C64EA4F6692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CCA9-1A0E-4DBC-AB68-09E9ED32205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xmlns="" id="{EA18B03C-7B9B-94B5-B24A-BDB3F10BD994}"/>
              </a:ext>
            </a:extLst>
          </p:cNvPr>
          <p:cNvSpPr txBox="1">
            <a:spLocks/>
          </p:cNvSpPr>
          <p:nvPr userDrawn="1"/>
        </p:nvSpPr>
        <p:spPr>
          <a:xfrm>
            <a:off x="761901" y="6183157"/>
            <a:ext cx="2895223" cy="533524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700" b="1" dirty="0">
                <a:solidFill>
                  <a:srgbClr val="0000FF"/>
                </a:solidFill>
              </a:rPr>
              <a:t>Dr. NGPASC</a:t>
            </a:r>
          </a:p>
          <a:p>
            <a:pPr>
              <a:defRPr/>
            </a:pPr>
            <a:r>
              <a:rPr lang="en-US" sz="1400" b="1" dirty="0">
                <a:solidFill>
                  <a:srgbClr val="0000FF"/>
                </a:solidFill>
              </a:rPr>
              <a:t>COIMBATORE | INDIA</a:t>
            </a:r>
          </a:p>
          <a:p>
            <a:pPr algn="ctr">
              <a:defRPr/>
            </a:pPr>
            <a:endParaRPr lang="en-US" sz="1700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11" name="Picture 2" descr="C:\Users\Staff\Desktop\NGP_Arts_Logo-Background Removed.png">
            <a:extLst>
              <a:ext uri="{FF2B5EF4-FFF2-40B4-BE49-F238E27FC236}">
                <a16:creationId xmlns:a16="http://schemas.microsoft.com/office/drawing/2014/main" xmlns="" id="{700B5565-08AB-A231-DAB3-6EC21CC195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190" y="6097423"/>
            <a:ext cx="690473" cy="6907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1288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476AA-11CD-4EE2-A603-C64EA4F6692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CCA9-1A0E-4DBC-AB68-09E9ED322052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xmlns="" id="{FAA0936A-72AB-58EB-4C13-3FA615138834}"/>
              </a:ext>
            </a:extLst>
          </p:cNvPr>
          <p:cNvSpPr txBox="1">
            <a:spLocks/>
          </p:cNvSpPr>
          <p:nvPr userDrawn="1"/>
        </p:nvSpPr>
        <p:spPr>
          <a:xfrm>
            <a:off x="761901" y="6183157"/>
            <a:ext cx="2895223" cy="533524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700" b="1" dirty="0">
                <a:solidFill>
                  <a:srgbClr val="0000FF"/>
                </a:solidFill>
              </a:rPr>
              <a:t>Dr. NGPASC</a:t>
            </a:r>
          </a:p>
          <a:p>
            <a:pPr>
              <a:defRPr/>
            </a:pPr>
            <a:r>
              <a:rPr lang="en-US" sz="1400" b="1" dirty="0">
                <a:solidFill>
                  <a:srgbClr val="0000FF"/>
                </a:solidFill>
              </a:rPr>
              <a:t>COIMBATORE | INDIA</a:t>
            </a:r>
          </a:p>
          <a:p>
            <a:pPr algn="ctr">
              <a:defRPr/>
            </a:pPr>
            <a:endParaRPr lang="en-US" sz="1700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7" name="Picture 2" descr="C:\Users\Staff\Desktop\NGP_Arts_Logo-Background Removed.png">
            <a:extLst>
              <a:ext uri="{FF2B5EF4-FFF2-40B4-BE49-F238E27FC236}">
                <a16:creationId xmlns:a16="http://schemas.microsoft.com/office/drawing/2014/main" xmlns="" id="{3B415032-A269-CE74-276B-DFBC18B7B7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190" y="6097423"/>
            <a:ext cx="690473" cy="6907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4378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476AA-11CD-4EE2-A603-C64EA4F6692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CCA9-1A0E-4DBC-AB68-09E9ED322052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xmlns="" id="{86802E87-D408-3EC8-D77A-CE2E9B1DB59B}"/>
              </a:ext>
            </a:extLst>
          </p:cNvPr>
          <p:cNvSpPr txBox="1">
            <a:spLocks/>
          </p:cNvSpPr>
          <p:nvPr userDrawn="1"/>
        </p:nvSpPr>
        <p:spPr>
          <a:xfrm>
            <a:off x="761901" y="6183157"/>
            <a:ext cx="2895223" cy="533524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700" b="1" dirty="0">
                <a:solidFill>
                  <a:srgbClr val="0000FF"/>
                </a:solidFill>
              </a:rPr>
              <a:t>Dr. NGPASC</a:t>
            </a:r>
          </a:p>
          <a:p>
            <a:pPr>
              <a:defRPr/>
            </a:pPr>
            <a:r>
              <a:rPr lang="en-US" sz="1400" b="1" dirty="0">
                <a:solidFill>
                  <a:srgbClr val="0000FF"/>
                </a:solidFill>
              </a:rPr>
              <a:t>COIMBATORE | INDIA</a:t>
            </a:r>
          </a:p>
          <a:p>
            <a:pPr algn="ctr">
              <a:defRPr/>
            </a:pPr>
            <a:endParaRPr lang="en-US" sz="1700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6" name="Picture 2" descr="C:\Users\Staff\Desktop\NGP_Arts_Logo-Background Removed.png">
            <a:extLst>
              <a:ext uri="{FF2B5EF4-FFF2-40B4-BE49-F238E27FC236}">
                <a16:creationId xmlns:a16="http://schemas.microsoft.com/office/drawing/2014/main" xmlns="" id="{2E928955-0FAA-D0AD-254A-8273FD4834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190" y="6097423"/>
            <a:ext cx="690473" cy="6907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398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476AA-11CD-4EE2-A603-C64EA4F6692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CCA9-1A0E-4DBC-AB68-09E9ED32205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2A283AE-8F71-9808-D481-09384B16C873}"/>
              </a:ext>
            </a:extLst>
          </p:cNvPr>
          <p:cNvSpPr txBox="1">
            <a:spLocks/>
          </p:cNvSpPr>
          <p:nvPr userDrawn="1"/>
        </p:nvSpPr>
        <p:spPr>
          <a:xfrm>
            <a:off x="761901" y="6183157"/>
            <a:ext cx="2895223" cy="533524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700" b="1" dirty="0">
                <a:solidFill>
                  <a:srgbClr val="0000FF"/>
                </a:solidFill>
              </a:rPr>
              <a:t>Dr. NGPASC</a:t>
            </a:r>
          </a:p>
          <a:p>
            <a:pPr>
              <a:defRPr/>
            </a:pPr>
            <a:r>
              <a:rPr lang="en-US" sz="1400" b="1" dirty="0">
                <a:solidFill>
                  <a:srgbClr val="0000FF"/>
                </a:solidFill>
              </a:rPr>
              <a:t>COIMBATORE | INDIA</a:t>
            </a:r>
          </a:p>
          <a:p>
            <a:pPr algn="ctr">
              <a:defRPr/>
            </a:pPr>
            <a:endParaRPr lang="en-US" sz="1700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9" name="Picture 2" descr="C:\Users\Staff\Desktop\NGP_Arts_Logo-Background Removed.png">
            <a:extLst>
              <a:ext uri="{FF2B5EF4-FFF2-40B4-BE49-F238E27FC236}">
                <a16:creationId xmlns:a16="http://schemas.microsoft.com/office/drawing/2014/main" xmlns="" id="{99C63948-048C-05AA-587A-84E9156623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190" y="6097423"/>
            <a:ext cx="690473" cy="6907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1925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476AA-11CD-4EE2-A603-C64EA4F6692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CCA9-1A0E-4DBC-AB68-09E9ED32205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19D28F8-2E20-7950-74D5-043E6E2E2F4A}"/>
              </a:ext>
            </a:extLst>
          </p:cNvPr>
          <p:cNvSpPr txBox="1">
            <a:spLocks/>
          </p:cNvSpPr>
          <p:nvPr userDrawn="1"/>
        </p:nvSpPr>
        <p:spPr>
          <a:xfrm>
            <a:off x="761901" y="6183157"/>
            <a:ext cx="2895223" cy="533524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700" b="1" dirty="0">
                <a:solidFill>
                  <a:srgbClr val="0000FF"/>
                </a:solidFill>
              </a:rPr>
              <a:t>Dr. NGPASC</a:t>
            </a:r>
          </a:p>
          <a:p>
            <a:pPr>
              <a:defRPr/>
            </a:pPr>
            <a:r>
              <a:rPr lang="en-US" sz="1400" b="1" dirty="0">
                <a:solidFill>
                  <a:srgbClr val="0000FF"/>
                </a:solidFill>
              </a:rPr>
              <a:t>COIMBATORE | INDIA</a:t>
            </a:r>
          </a:p>
          <a:p>
            <a:pPr algn="ctr">
              <a:defRPr/>
            </a:pPr>
            <a:endParaRPr lang="en-US" sz="1700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9" name="Picture 2" descr="C:\Users\Staff\Desktop\NGP_Arts_Logo-Background Removed.png">
            <a:extLst>
              <a:ext uri="{FF2B5EF4-FFF2-40B4-BE49-F238E27FC236}">
                <a16:creationId xmlns:a16="http://schemas.microsoft.com/office/drawing/2014/main" xmlns="" id="{E127C5FB-0AA2-E9CA-E468-E0752E64C4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190" y="6097423"/>
            <a:ext cx="690473" cy="6907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50240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476AA-11CD-4EE2-A603-C64EA4F6692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CCA9-1A0E-4DBC-AB68-09E9ED32205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xmlns="" id="{65C47D93-8823-EBB5-737F-D20D4E6E5D9B}"/>
              </a:ext>
            </a:extLst>
          </p:cNvPr>
          <p:cNvSpPr txBox="1">
            <a:spLocks/>
          </p:cNvSpPr>
          <p:nvPr userDrawn="1"/>
        </p:nvSpPr>
        <p:spPr>
          <a:xfrm>
            <a:off x="761901" y="6183157"/>
            <a:ext cx="2895223" cy="533524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700" b="1" dirty="0">
                <a:solidFill>
                  <a:srgbClr val="0000FF"/>
                </a:solidFill>
              </a:rPr>
              <a:t>Dr. NGPASC</a:t>
            </a:r>
          </a:p>
          <a:p>
            <a:pPr>
              <a:defRPr/>
            </a:pPr>
            <a:r>
              <a:rPr lang="en-US" sz="1400" b="1" dirty="0">
                <a:solidFill>
                  <a:srgbClr val="0000FF"/>
                </a:solidFill>
              </a:rPr>
              <a:t>COIMBATORE | INDIA</a:t>
            </a:r>
          </a:p>
          <a:p>
            <a:pPr algn="ctr">
              <a:defRPr/>
            </a:pPr>
            <a:endParaRPr lang="en-US" sz="1700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8" name="Picture 2" descr="C:\Users\Staff\Desktop\NGP_Arts_Logo-Background Removed.png">
            <a:extLst>
              <a:ext uri="{FF2B5EF4-FFF2-40B4-BE49-F238E27FC236}">
                <a16:creationId xmlns:a16="http://schemas.microsoft.com/office/drawing/2014/main" xmlns="" id="{02238CA9-62A9-4D87-E5C2-A1C207490C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190" y="6097423"/>
            <a:ext cx="690473" cy="6907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83427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476AA-11CD-4EE2-A603-C64EA4F6692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CCA9-1A0E-4DBC-AB68-09E9ED32205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xmlns="" id="{22CB82BB-9A20-4967-B223-B36F53FD8FAB}"/>
              </a:ext>
            </a:extLst>
          </p:cNvPr>
          <p:cNvSpPr txBox="1">
            <a:spLocks/>
          </p:cNvSpPr>
          <p:nvPr userDrawn="1"/>
        </p:nvSpPr>
        <p:spPr>
          <a:xfrm>
            <a:off x="761901" y="6183157"/>
            <a:ext cx="2895223" cy="533524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700" b="1" dirty="0">
                <a:solidFill>
                  <a:srgbClr val="0000FF"/>
                </a:solidFill>
              </a:rPr>
              <a:t>Dr. NGPASC</a:t>
            </a:r>
          </a:p>
          <a:p>
            <a:pPr>
              <a:defRPr/>
            </a:pPr>
            <a:r>
              <a:rPr lang="en-US" sz="1400" b="1" dirty="0">
                <a:solidFill>
                  <a:srgbClr val="0000FF"/>
                </a:solidFill>
              </a:rPr>
              <a:t>COIMBATORE | INDIA</a:t>
            </a:r>
          </a:p>
          <a:p>
            <a:pPr algn="ctr">
              <a:defRPr/>
            </a:pPr>
            <a:endParaRPr lang="en-US" sz="1700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8" name="Picture 2" descr="C:\Users\Staff\Desktop\NGP_Arts_Logo-Background Removed.png">
            <a:extLst>
              <a:ext uri="{FF2B5EF4-FFF2-40B4-BE49-F238E27FC236}">
                <a16:creationId xmlns:a16="http://schemas.microsoft.com/office/drawing/2014/main" xmlns="" id="{D49D86F0-E8A2-C3CA-E21A-A6DB80AD6D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190" y="6097423"/>
            <a:ext cx="690473" cy="6907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46842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476AA-11CD-4EE2-A603-C64EA4F6692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8CCA9-1A0E-4DBC-AB68-09E9ED32205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xmlns="" id="{57E1A898-2D90-498E-6599-A90E044307FD}"/>
              </a:ext>
            </a:extLst>
          </p:cNvPr>
          <p:cNvSpPr txBox="1">
            <a:spLocks/>
          </p:cNvSpPr>
          <p:nvPr userDrawn="1"/>
        </p:nvSpPr>
        <p:spPr>
          <a:xfrm>
            <a:off x="761901" y="6183157"/>
            <a:ext cx="2895223" cy="533524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700" b="1" dirty="0">
                <a:solidFill>
                  <a:srgbClr val="0000FF"/>
                </a:solidFill>
              </a:rPr>
              <a:t>Dr. NGPASC</a:t>
            </a:r>
          </a:p>
          <a:p>
            <a:pPr>
              <a:defRPr/>
            </a:pPr>
            <a:r>
              <a:rPr lang="en-US" sz="1400" b="1" dirty="0">
                <a:solidFill>
                  <a:srgbClr val="0000FF"/>
                </a:solidFill>
              </a:rPr>
              <a:t>COIMBATORE | INDIA</a:t>
            </a:r>
          </a:p>
          <a:p>
            <a:pPr algn="ctr">
              <a:defRPr/>
            </a:pPr>
            <a:endParaRPr lang="en-US" sz="1700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8" name="Picture 2" descr="C:\Users\Staff\Desktop\NGP_Arts_Logo-Background Removed.png">
            <a:extLst>
              <a:ext uri="{FF2B5EF4-FFF2-40B4-BE49-F238E27FC236}">
                <a16:creationId xmlns:a16="http://schemas.microsoft.com/office/drawing/2014/main" xmlns="" id="{799F026C-AF6C-6008-410D-59DDF8CDB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6190" y="6097423"/>
            <a:ext cx="690473" cy="6907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5131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xmlns="" id="{46B4CEAC-5034-D5F5-1010-76619D2D6A31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endParaRPr lang="en-IN" sz="4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  <a:p>
            <a:pPr>
              <a:spcBef>
                <a:spcPts val="0"/>
              </a:spcBef>
              <a:defRPr/>
            </a:pPr>
            <a:r>
              <a:rPr lang="en-IN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Dr. N.G.P. ARTS AND SCIENCE COLLEGE </a:t>
            </a:r>
          </a:p>
          <a:p>
            <a:pPr>
              <a:spcBef>
                <a:spcPts val="0"/>
              </a:spcBef>
              <a:defRPr/>
            </a:pPr>
            <a:r>
              <a:rPr lang="en-IN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Coimbatore – 641 048 | Tamil Nadu | India</a:t>
            </a:r>
            <a:r>
              <a:rPr lang="en-IN" sz="40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defRPr/>
            </a:pPr>
            <a:endParaRPr lang="en-US" sz="4800" b="1" dirty="0">
              <a:solidFill>
                <a:prstClr val="white"/>
              </a:solidFill>
              <a:latin typeface="Tw Cen MT Condensed" panose="020B0606020104020203" pitchFamily="34" charset="0"/>
              <a:cs typeface="Andalus" pitchFamily="18" charset="-78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49836CCA-54F4-57E6-F7B9-9AEA7BA738B5}"/>
              </a:ext>
            </a:extLst>
          </p:cNvPr>
          <p:cNvSpPr txBox="1">
            <a:spLocks/>
          </p:cNvSpPr>
          <p:nvPr/>
        </p:nvSpPr>
        <p:spPr>
          <a:xfrm>
            <a:off x="336063" y="1375508"/>
            <a:ext cx="11488614" cy="45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smtClean="0"/>
              <a:t>Project Review</a:t>
            </a:r>
          </a:p>
          <a:p>
            <a:pPr algn="ctr"/>
            <a:endParaRPr lang="en-IN" b="1" dirty="0"/>
          </a:p>
          <a:p>
            <a:pPr algn="ctr"/>
            <a:r>
              <a:rPr lang="en-IN" b="1" dirty="0" smtClean="0"/>
              <a:t>Explainable </a:t>
            </a:r>
            <a:r>
              <a:rPr lang="en-IN" b="1" dirty="0"/>
              <a:t>AI-Based Clinical Decision Support System for Breast Cancer Diagnosis</a:t>
            </a:r>
          </a:p>
          <a:p>
            <a:pPr algn="ctr"/>
            <a:endParaRPr lang="en-IN" b="1" dirty="0" smtClean="0"/>
          </a:p>
          <a:p>
            <a:pPr algn="ctr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Presented by </a:t>
            </a:r>
          </a:p>
          <a:p>
            <a:pPr algn="ctr"/>
            <a:r>
              <a:rPr lang="en-IN" sz="3200" dirty="0" err="1" smtClean="0">
                <a:latin typeface="Times New Roman" pitchFamily="18" charset="0"/>
                <a:cs typeface="Times New Roman" pitchFamily="18" charset="0"/>
              </a:rPr>
              <a:t>Rithu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 P </a:t>
            </a:r>
          </a:p>
          <a:p>
            <a:pPr algn="ctr"/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231AI047</a:t>
            </a:r>
          </a:p>
          <a:p>
            <a:pPr algn="ctr"/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Guide</a:t>
            </a:r>
          </a:p>
          <a:p>
            <a:pPr algn="ctr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200" dirty="0" err="1" smtClean="0">
                <a:latin typeface="Times New Roman" pitchFamily="18" charset="0"/>
                <a:cs typeface="Times New Roman" pitchFamily="18" charset="0"/>
              </a:rPr>
              <a:t>Dr.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 S. </a:t>
            </a:r>
            <a:r>
              <a:rPr lang="en-IN" sz="3200" dirty="0" err="1" smtClean="0">
                <a:latin typeface="Times New Roman" pitchFamily="18" charset="0"/>
                <a:cs typeface="Times New Roman" pitchFamily="18" charset="0"/>
              </a:rPr>
              <a:t>Saranya</a:t>
            </a: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Associate Professor and HOD</a:t>
            </a:r>
          </a:p>
          <a:p>
            <a:pPr algn="ctr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 Artificial Intelligence and Machine Learning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0215-41E1-90CC-E5F6-B2DCB91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xmlns="" id="{F84B63DE-EB36-9238-01CD-DC99FEDC6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68248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xmlns="" id="{58EB35B0-FAF5-5753-6C58-ECC6246DC74B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sz="4800" dirty="0">
                <a:solidFill>
                  <a:schemeClr val="bg1"/>
                </a:solidFill>
              </a:rPr>
              <a:t>PROBLEM STATEMENT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1403846"/>
            <a:ext cx="1104900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200" dirty="0"/>
              <a:t>Breast cancer is one of the leading causes of death among women worldwide.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/>
              <a:t>Early detection plays a crucial role in improving survival rates.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/>
              <a:t>Traditional diagnosis relies heavily on radiologists’ interpretation - prone to human error.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/>
              <a:t>AI can assist in detecting and classifying breast cancer efficiently.</a:t>
            </a:r>
          </a:p>
          <a:p>
            <a:endParaRPr lang="en-US" sz="2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/>
              <a:t>Manual interpretation of mammograms is time-consuming and subjective.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/>
              <a:t>Existing AI models often act as “black boxes” - lacking transparency.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/>
              <a:t>Clinicians hesitate to trust AI without understanding how it arrives at a decision.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200" dirty="0"/>
          </a:p>
          <a:p>
            <a:r>
              <a:rPr lang="en-US" sz="2200" b="1" dirty="0"/>
              <a:t>OBJECTIVE: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200" dirty="0"/>
              <a:t>To design an Explainable AI-based Clinical Decision Support System (CDSS).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200" dirty="0"/>
              <a:t>To detect and classify breast cancer (benign or malignant) using mammogram images.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200" dirty="0"/>
              <a:t>To integrate interpretability techniques (Grad-CAM, LIME) for transparent decisions.</a:t>
            </a:r>
          </a:p>
        </p:txBody>
      </p:sp>
    </p:spTree>
    <p:extLst>
      <p:ext uri="{BB962C8B-B14F-4D97-AF65-F5344CB8AC3E}">
        <p14:creationId xmlns:p14="http://schemas.microsoft.com/office/powerpoint/2010/main" val="429353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0215-41E1-90CC-E5F6-B2DCB91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xmlns="" id="{F84B63DE-EB36-9238-01CD-DC99FEDC6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68248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xmlns="" id="{58EB35B0-FAF5-5753-6C58-ECC6246DC74B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sz="4800" dirty="0" smtClean="0">
                <a:solidFill>
                  <a:schemeClr val="bg1"/>
                </a:solidFill>
              </a:rPr>
              <a:t>SYSTEM STUDY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8668" y="1465007"/>
            <a:ext cx="1149773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Existing </a:t>
            </a:r>
            <a:r>
              <a:rPr lang="en-US" sz="2200" b="1" dirty="0" smtClean="0"/>
              <a:t>Systems</a:t>
            </a:r>
          </a:p>
          <a:p>
            <a:endParaRPr lang="en-US" sz="2200" b="1" dirty="0" smtClean="0"/>
          </a:p>
          <a:p>
            <a:r>
              <a:rPr lang="en-US" sz="2200" b="1" dirty="0" smtClean="0"/>
              <a:t>1. Manual </a:t>
            </a:r>
            <a:r>
              <a:rPr lang="en-US" sz="2200" b="1" dirty="0"/>
              <a:t>Diagnosis: </a:t>
            </a:r>
            <a:r>
              <a:rPr lang="en-US" sz="2200" dirty="0"/>
              <a:t>Radiologist-based visual analysis of </a:t>
            </a:r>
            <a:r>
              <a:rPr lang="en-US" sz="2200" dirty="0" smtClean="0"/>
              <a:t>mammograms</a:t>
            </a:r>
          </a:p>
          <a:p>
            <a:r>
              <a:rPr lang="en-US" sz="2200" b="1" dirty="0" smtClean="0"/>
              <a:t>Pros</a:t>
            </a:r>
            <a:r>
              <a:rPr lang="en-US" sz="2200" b="1" dirty="0"/>
              <a:t>: </a:t>
            </a:r>
            <a:r>
              <a:rPr lang="en-US" sz="2200" dirty="0"/>
              <a:t>Clinical expertise, contextual </a:t>
            </a:r>
            <a:r>
              <a:rPr lang="en-US" sz="2200" dirty="0" smtClean="0"/>
              <a:t>judgment</a:t>
            </a:r>
          </a:p>
          <a:p>
            <a:r>
              <a:rPr lang="en-US" sz="2200" b="1" dirty="0" smtClean="0"/>
              <a:t>Cons</a:t>
            </a:r>
            <a:r>
              <a:rPr lang="en-US" sz="2200" b="1" dirty="0"/>
              <a:t>:</a:t>
            </a:r>
            <a:r>
              <a:rPr lang="en-US" sz="2200" dirty="0"/>
              <a:t> Time-consuming, subjective, prone to human </a:t>
            </a:r>
            <a:r>
              <a:rPr lang="en-US" sz="2200" dirty="0" smtClean="0"/>
              <a:t>error</a:t>
            </a:r>
          </a:p>
          <a:p>
            <a:endParaRPr lang="en-US" sz="2200" dirty="0" smtClean="0"/>
          </a:p>
          <a:p>
            <a:r>
              <a:rPr lang="en-US" sz="2200" b="1" dirty="0" smtClean="0"/>
              <a:t>2. Traditional </a:t>
            </a:r>
            <a:r>
              <a:rPr lang="en-US" sz="2200" b="1" dirty="0"/>
              <a:t>CAD Systems:</a:t>
            </a:r>
            <a:r>
              <a:rPr lang="en-US" sz="2200" dirty="0"/>
              <a:t> Handcrafted features with ML </a:t>
            </a:r>
            <a:r>
              <a:rPr lang="en-US" sz="2200" dirty="0" smtClean="0"/>
              <a:t>classifiers</a:t>
            </a:r>
          </a:p>
          <a:p>
            <a:r>
              <a:rPr lang="en-US" sz="2200" b="1" dirty="0" smtClean="0"/>
              <a:t>Pros</a:t>
            </a:r>
            <a:r>
              <a:rPr lang="en-US" sz="2200" b="1" dirty="0"/>
              <a:t>: </a:t>
            </a:r>
            <a:r>
              <a:rPr lang="en-US" sz="2200" dirty="0"/>
              <a:t>Faster diagnosis, partial </a:t>
            </a:r>
            <a:r>
              <a:rPr lang="en-US" sz="2200" dirty="0" smtClean="0"/>
              <a:t>automation</a:t>
            </a:r>
          </a:p>
          <a:p>
            <a:r>
              <a:rPr lang="en-US" sz="2200" b="1" dirty="0" smtClean="0"/>
              <a:t>Cons</a:t>
            </a:r>
            <a:r>
              <a:rPr lang="en-US" sz="2200" b="1" dirty="0"/>
              <a:t>: </a:t>
            </a:r>
            <a:r>
              <a:rPr lang="en-US" sz="2200" dirty="0"/>
              <a:t>Feature dependency, low generalization, limited </a:t>
            </a:r>
            <a:r>
              <a:rPr lang="en-US" sz="2200" dirty="0" smtClean="0"/>
              <a:t>accuracy</a:t>
            </a:r>
          </a:p>
          <a:p>
            <a:endParaRPr lang="en-US" sz="2200" dirty="0" smtClean="0"/>
          </a:p>
          <a:p>
            <a:r>
              <a:rPr lang="en-US" sz="2200" b="1" dirty="0" smtClean="0"/>
              <a:t>3. Deep </a:t>
            </a:r>
            <a:r>
              <a:rPr lang="en-US" sz="2200" b="1" dirty="0"/>
              <a:t>Learning Models: </a:t>
            </a:r>
            <a:r>
              <a:rPr lang="en-US" sz="2200" dirty="0"/>
              <a:t>CNN-based automated </a:t>
            </a:r>
            <a:r>
              <a:rPr lang="en-US" sz="2200" dirty="0" smtClean="0"/>
              <a:t>classification</a:t>
            </a:r>
          </a:p>
          <a:p>
            <a:r>
              <a:rPr lang="en-US" sz="2200" b="1" dirty="0" smtClean="0"/>
              <a:t>Pros</a:t>
            </a:r>
            <a:r>
              <a:rPr lang="en-US" sz="2200" b="1" dirty="0"/>
              <a:t>: </a:t>
            </a:r>
            <a:r>
              <a:rPr lang="en-US" sz="2200" dirty="0"/>
              <a:t>High accuracy, automatic feature </a:t>
            </a:r>
            <a:r>
              <a:rPr lang="en-US" sz="2200" dirty="0" smtClean="0"/>
              <a:t>learning</a:t>
            </a:r>
          </a:p>
          <a:p>
            <a:r>
              <a:rPr lang="en-US" sz="2200" b="1" dirty="0" smtClean="0"/>
              <a:t>Cons</a:t>
            </a:r>
            <a:r>
              <a:rPr lang="en-US" sz="2200" b="1" dirty="0"/>
              <a:t>: </a:t>
            </a:r>
            <a:r>
              <a:rPr lang="en-US" sz="2200" dirty="0"/>
              <a:t>Black-box nature, lack of </a:t>
            </a:r>
            <a:r>
              <a:rPr lang="en-US" sz="2200" dirty="0" smtClean="0"/>
              <a:t>interpretability</a:t>
            </a:r>
          </a:p>
        </p:txBody>
      </p:sp>
    </p:spTree>
    <p:extLst>
      <p:ext uri="{BB962C8B-B14F-4D97-AF65-F5344CB8AC3E}">
        <p14:creationId xmlns:p14="http://schemas.microsoft.com/office/powerpoint/2010/main" val="40342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0215-41E1-90CC-E5F6-B2DCB91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xmlns="" id="{F84B63DE-EB36-9238-01CD-DC99FEDC6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68248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xmlns="" id="{58EB35B0-FAF5-5753-6C58-ECC6246DC74B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sz="4800" dirty="0" smtClean="0">
                <a:solidFill>
                  <a:schemeClr val="bg1"/>
                </a:solidFill>
              </a:rPr>
              <a:t>SYSTEM STUDY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5181" y="1348800"/>
            <a:ext cx="544061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Proposed </a:t>
            </a:r>
            <a:r>
              <a:rPr lang="en-US" sz="2200" b="1" dirty="0"/>
              <a:t>System: Explainable AI-Based </a:t>
            </a:r>
            <a:r>
              <a:rPr lang="en-US" sz="2200" b="1" dirty="0" smtClean="0"/>
              <a:t>CDSS</a:t>
            </a:r>
          </a:p>
          <a:p>
            <a:endParaRPr lang="en-US" sz="2200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CNN classifies mammograms as Benign / Malignant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Grad-CAM &amp; LIME provide visual </a:t>
            </a:r>
            <a:r>
              <a:rPr lang="en-US" sz="2200" dirty="0" smtClean="0"/>
              <a:t>explanations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 smtClean="0"/>
              <a:t>Web-based </a:t>
            </a:r>
            <a:r>
              <a:rPr lang="en-US" sz="2200" dirty="0"/>
              <a:t>deployment for real-time </a:t>
            </a:r>
            <a:r>
              <a:rPr lang="en-US" sz="2200" dirty="0" smtClean="0"/>
              <a:t>usage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200" dirty="0"/>
          </a:p>
          <a:p>
            <a:r>
              <a:rPr lang="en-US" sz="2200" b="1" dirty="0"/>
              <a:t>Advantages: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High accuracy with </a:t>
            </a:r>
            <a:r>
              <a:rPr lang="en-US" sz="2200" dirty="0" smtClean="0"/>
              <a:t>transparency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 smtClean="0"/>
              <a:t>Improved </a:t>
            </a:r>
            <a:r>
              <a:rPr lang="en-US" sz="2200" dirty="0"/>
              <a:t>clinician </a:t>
            </a:r>
            <a:r>
              <a:rPr lang="en-US" sz="2200" dirty="0" smtClean="0"/>
              <a:t>trust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 smtClean="0"/>
              <a:t>Faster </a:t>
            </a:r>
            <a:r>
              <a:rPr lang="en-US" sz="2200" dirty="0"/>
              <a:t>and scalable </a:t>
            </a:r>
            <a:r>
              <a:rPr lang="en-US" sz="2200" dirty="0" smtClean="0"/>
              <a:t>diagnosis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 smtClean="0"/>
              <a:t>Supports </a:t>
            </a:r>
            <a:r>
              <a:rPr lang="en-US" sz="2200" dirty="0"/>
              <a:t>radiologist </a:t>
            </a:r>
            <a:r>
              <a:rPr lang="en-US" sz="2200" dirty="0" smtClean="0"/>
              <a:t>decision-making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200" dirty="0" smtClean="0"/>
          </a:p>
          <a:p>
            <a:pPr marL="285750" indent="-285750">
              <a:buFont typeface="Arial" pitchFamily="34" charset="0"/>
              <a:buChar char="•"/>
            </a:pPr>
            <a:endParaRPr lang="en-IN" sz="2200" dirty="0"/>
          </a:p>
          <a:p>
            <a:endParaRPr lang="en-IN" sz="2200" dirty="0"/>
          </a:p>
        </p:txBody>
      </p:sp>
      <p:sp>
        <p:nvSpPr>
          <p:cNvPr id="4" name="Rectangle 3"/>
          <p:cNvSpPr/>
          <p:nvPr/>
        </p:nvSpPr>
        <p:spPr>
          <a:xfrm>
            <a:off x="6019800" y="1308374"/>
            <a:ext cx="56642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Additionally, Nutrition </a:t>
            </a:r>
            <a:r>
              <a:rPr lang="en-US" sz="2200" b="1" dirty="0"/>
              <a:t>&amp; Dietetics Recommendation </a:t>
            </a:r>
            <a:r>
              <a:rPr lang="en-US" sz="2200" b="1" dirty="0" smtClean="0"/>
              <a:t>Module is added.</a:t>
            </a:r>
          </a:p>
          <a:p>
            <a:endParaRPr lang="en-US" sz="22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 smtClean="0"/>
              <a:t>Integrated </a:t>
            </a:r>
            <a:r>
              <a:rPr lang="en-US" sz="2200" dirty="0"/>
              <a:t>as a </a:t>
            </a:r>
            <a:r>
              <a:rPr lang="en-US" sz="2200" dirty="0" smtClean="0"/>
              <a:t>diagnosis </a:t>
            </a:r>
            <a:r>
              <a:rPr lang="en-US" sz="2200" dirty="0"/>
              <a:t>support module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 smtClean="0"/>
              <a:t>Provides </a:t>
            </a:r>
            <a:r>
              <a:rPr lang="en-US" sz="2200" dirty="0"/>
              <a:t>dietary </a:t>
            </a:r>
            <a:r>
              <a:rPr lang="en-US" sz="2200" dirty="0" smtClean="0"/>
              <a:t>guidance.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 smtClean="0"/>
              <a:t>Focuses </a:t>
            </a:r>
            <a:r>
              <a:rPr lang="en-US" sz="2200" dirty="0"/>
              <a:t>on: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200" dirty="0"/>
              <a:t>Immune support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200" dirty="0"/>
              <a:t>Recovery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200" dirty="0"/>
              <a:t>General well-being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Acts as a clinical support feature, not medical prescription</a:t>
            </a:r>
          </a:p>
        </p:txBody>
      </p:sp>
    </p:spTree>
    <p:extLst>
      <p:ext uri="{BB962C8B-B14F-4D97-AF65-F5344CB8AC3E}">
        <p14:creationId xmlns:p14="http://schemas.microsoft.com/office/powerpoint/2010/main" val="191796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0215-41E1-90CC-E5F6-B2DCB91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xmlns="" id="{F84B63DE-EB36-9238-01CD-DC99FEDC6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68248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xmlns="" id="{58EB35B0-FAF5-5753-6C58-ECC6246DC74B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sz="4800" dirty="0">
                <a:solidFill>
                  <a:schemeClr val="bg1"/>
                </a:solidFill>
              </a:rPr>
              <a:t>SYSTEM DESIGN &amp; IMPLEMENTATION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1403846"/>
            <a:ext cx="11049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b="1" dirty="0"/>
              <a:t>Dataset Used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200" dirty="0" smtClean="0"/>
              <a:t>Manually collected: </a:t>
            </a:r>
            <a:r>
              <a:rPr lang="en-IN" sz="2200" dirty="0"/>
              <a:t>Curated Breast Imaging Subset </a:t>
            </a:r>
            <a:r>
              <a:rPr lang="en-IN" sz="2200" dirty="0" smtClean="0"/>
              <a:t>from KMCH.</a:t>
            </a:r>
            <a:endParaRPr lang="en-IN" sz="2200" dirty="0"/>
          </a:p>
          <a:p>
            <a:pPr marL="342900" indent="-342900">
              <a:buFont typeface="Arial" pitchFamily="34" charset="0"/>
              <a:buChar char="•"/>
            </a:pPr>
            <a:r>
              <a:rPr lang="en-IN" sz="2200" dirty="0"/>
              <a:t>Contains </a:t>
            </a:r>
            <a:r>
              <a:rPr lang="en-IN" sz="2200" dirty="0" smtClean="0"/>
              <a:t>segregated </a:t>
            </a:r>
            <a:r>
              <a:rPr lang="en-IN" sz="2200" dirty="0" smtClean="0"/>
              <a:t>mammogram </a:t>
            </a:r>
            <a:r>
              <a:rPr lang="en-IN" sz="2200" dirty="0"/>
              <a:t>images</a:t>
            </a:r>
            <a:r>
              <a:rPr lang="en-IN" sz="2200" dirty="0" smtClean="0"/>
              <a:t>.</a:t>
            </a:r>
            <a:endParaRPr lang="en-IN" sz="2200" dirty="0"/>
          </a:p>
          <a:p>
            <a:r>
              <a:rPr lang="en-IN" sz="2200" b="1" dirty="0"/>
              <a:t>Software Stack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200" dirty="0"/>
              <a:t>Python | </a:t>
            </a:r>
            <a:r>
              <a:rPr lang="en-IN" sz="2200" dirty="0" err="1"/>
              <a:t>TensorFlow</a:t>
            </a:r>
            <a:r>
              <a:rPr lang="en-IN" sz="2200" dirty="0"/>
              <a:t> | </a:t>
            </a:r>
            <a:r>
              <a:rPr lang="en-IN" sz="2200" dirty="0" err="1"/>
              <a:t>Keras</a:t>
            </a:r>
            <a:r>
              <a:rPr lang="en-IN" sz="2200" dirty="0"/>
              <a:t> | Flask | </a:t>
            </a:r>
            <a:r>
              <a:rPr lang="en-IN" sz="2200" dirty="0" err="1"/>
              <a:t>OpenCV</a:t>
            </a:r>
            <a:r>
              <a:rPr lang="en-IN" sz="2200" dirty="0"/>
              <a:t> | </a:t>
            </a:r>
            <a:r>
              <a:rPr lang="en-IN" sz="2200" dirty="0" err="1"/>
              <a:t>NumPy</a:t>
            </a:r>
            <a:r>
              <a:rPr lang="en-IN" sz="2200" dirty="0"/>
              <a:t> | Pandas | </a:t>
            </a:r>
            <a:r>
              <a:rPr lang="en-IN" sz="2200" dirty="0" err="1"/>
              <a:t>Scikit</a:t>
            </a:r>
            <a:r>
              <a:rPr lang="en-IN" sz="2200" dirty="0"/>
              <a:t>-learn | </a:t>
            </a:r>
          </a:p>
          <a:p>
            <a:r>
              <a:rPr lang="en-IN" sz="2200" dirty="0"/>
              <a:t>     Grad-CAM | </a:t>
            </a:r>
            <a:r>
              <a:rPr lang="en-IN" sz="2200" dirty="0" smtClean="0"/>
              <a:t>LIME</a:t>
            </a:r>
          </a:p>
          <a:p>
            <a:endParaRPr lang="en-IN" sz="2200" dirty="0" smtClean="0"/>
          </a:p>
          <a:p>
            <a:r>
              <a:rPr lang="en-IN" sz="2200" b="1" dirty="0" smtClean="0"/>
              <a:t>	MALIGNANT</a:t>
            </a:r>
            <a:r>
              <a:rPr lang="en-IN" sz="2200" dirty="0" smtClean="0"/>
              <a:t>							</a:t>
            </a:r>
            <a:r>
              <a:rPr lang="en-IN" sz="2200" b="1" dirty="0" smtClean="0"/>
              <a:t>BENIGN</a:t>
            </a:r>
          </a:p>
          <a:p>
            <a:endParaRPr lang="en-IN" sz="2200" dirty="0"/>
          </a:p>
        </p:txBody>
      </p:sp>
      <p:pic>
        <p:nvPicPr>
          <p:cNvPr id="1026" name="Picture 2" descr="C:\Users\Dell\Downloads\TESTING DATA\MALIGNANT\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4202183"/>
            <a:ext cx="1187450" cy="131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Dell\Downloads\TESTING DATA\MALIGNANT\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254" y="4202183"/>
            <a:ext cx="1146372" cy="166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Dell\Downloads\TESTING DATA\MALIGNANT\6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299" y="4202183"/>
            <a:ext cx="1838325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Dell\Downloads\TESTING DATA\BENIGN\2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033" y="4257588"/>
            <a:ext cx="1704975" cy="223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egmental Non-Mass Enhancement Features in Breast Magnetic Resonance Imaging:  A Multicenter Retrospective Study of Histopathologic Correlation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238" y="4257588"/>
            <a:ext cx="2202193" cy="1737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ign Findings in Breast MRI - Clinical Tree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442" y="4262598"/>
            <a:ext cx="1221062" cy="173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48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0215-41E1-90CC-E5F6-B2DCB91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xmlns="" id="{F84B63DE-EB36-9238-01CD-DC99FEDC6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68248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xmlns="" id="{58EB35B0-FAF5-5753-6C58-ECC6246DC74B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sz="4800" dirty="0">
                <a:solidFill>
                  <a:schemeClr val="bg1"/>
                </a:solidFill>
              </a:rPr>
              <a:t>SYSTEM DESIGN &amp; </a:t>
            </a:r>
            <a:r>
              <a:rPr lang="en-US" sz="4800" dirty="0" smtClean="0">
                <a:solidFill>
                  <a:schemeClr val="bg1"/>
                </a:solidFill>
              </a:rPr>
              <a:t>IMPLEMENTATION(MODULES)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1397255"/>
            <a:ext cx="11049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200" b="1" dirty="0" smtClean="0"/>
              <a:t>Dataset </a:t>
            </a:r>
            <a:r>
              <a:rPr lang="en-IN" sz="2200" b="1" dirty="0"/>
              <a:t>&amp; Data </a:t>
            </a:r>
            <a:r>
              <a:rPr lang="en-IN" sz="2200" b="1" dirty="0" smtClean="0"/>
              <a:t>Acquisition: </a:t>
            </a:r>
            <a:r>
              <a:rPr lang="en-IN" sz="2200" dirty="0" smtClean="0"/>
              <a:t>CBIS-DDSM </a:t>
            </a:r>
            <a:r>
              <a:rPr lang="en-IN" sz="2200" dirty="0"/>
              <a:t>mammogram dataset with benign and malignant </a:t>
            </a:r>
            <a:r>
              <a:rPr lang="en-IN" sz="2200" dirty="0" smtClean="0"/>
              <a:t>labels</a:t>
            </a:r>
            <a:endParaRPr lang="en-IN" sz="2200" dirty="0"/>
          </a:p>
          <a:p>
            <a:pPr marL="342900" indent="-342900">
              <a:buFont typeface="Arial" pitchFamily="34" charset="0"/>
              <a:buChar char="•"/>
            </a:pPr>
            <a:r>
              <a:rPr lang="en-IN" sz="2200" b="1" dirty="0"/>
              <a:t>Data </a:t>
            </a:r>
            <a:r>
              <a:rPr lang="en-IN" sz="2200" b="1" dirty="0" err="1" smtClean="0"/>
              <a:t>Preprocessing</a:t>
            </a:r>
            <a:r>
              <a:rPr lang="en-IN" sz="2200" b="1" dirty="0" smtClean="0"/>
              <a:t>: </a:t>
            </a:r>
            <a:r>
              <a:rPr lang="en-IN" sz="2200" dirty="0" smtClean="0"/>
              <a:t>Noise </a:t>
            </a:r>
            <a:r>
              <a:rPr lang="en-IN" sz="2200" dirty="0"/>
              <a:t>removal, enhancement, segmentation, </a:t>
            </a:r>
            <a:r>
              <a:rPr lang="en-IN" sz="2200" dirty="0" smtClean="0"/>
              <a:t>normalization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2200" dirty="0"/>
          </a:p>
          <a:p>
            <a:pPr marL="342900" indent="-342900">
              <a:buFont typeface="Arial" pitchFamily="34" charset="0"/>
              <a:buChar char="•"/>
            </a:pPr>
            <a:r>
              <a:rPr lang="en-IN" sz="2200" b="1" dirty="0"/>
              <a:t>CNN Classification </a:t>
            </a:r>
            <a:r>
              <a:rPr lang="en-IN" sz="2200" b="1" dirty="0" smtClean="0"/>
              <a:t>Module: </a:t>
            </a:r>
            <a:r>
              <a:rPr lang="en-IN" sz="2200" dirty="0" smtClean="0"/>
              <a:t>Deep </a:t>
            </a:r>
            <a:r>
              <a:rPr lang="en-IN" sz="2200" dirty="0"/>
              <a:t>learning-based benign/malignant prediction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200" b="1" dirty="0"/>
              <a:t>Explainable AI </a:t>
            </a:r>
            <a:r>
              <a:rPr lang="en-IN" sz="2200" b="1" dirty="0" smtClean="0"/>
              <a:t>Module: </a:t>
            </a:r>
            <a:r>
              <a:rPr lang="en-IN" sz="2200" dirty="0" smtClean="0"/>
              <a:t>Grad-CAM </a:t>
            </a:r>
            <a:r>
              <a:rPr lang="en-IN" sz="2200" dirty="0"/>
              <a:t>and LIME for transparent decision </a:t>
            </a:r>
            <a:r>
              <a:rPr lang="en-IN" sz="2200" dirty="0" smtClean="0"/>
              <a:t>explanations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2200" dirty="0"/>
          </a:p>
          <a:p>
            <a:pPr marL="342900" indent="-342900">
              <a:buFont typeface="Arial" pitchFamily="34" charset="0"/>
              <a:buChar char="•"/>
            </a:pPr>
            <a:r>
              <a:rPr lang="en-IN" sz="2200" b="1" dirty="0"/>
              <a:t>Clinical Decision Support </a:t>
            </a:r>
            <a:r>
              <a:rPr lang="en-IN" sz="2200" b="1" dirty="0" smtClean="0"/>
              <a:t>Module: </a:t>
            </a:r>
            <a:r>
              <a:rPr lang="en-IN" sz="2200" dirty="0" smtClean="0"/>
              <a:t>Assists </a:t>
            </a:r>
            <a:r>
              <a:rPr lang="en-IN" sz="2200" dirty="0"/>
              <a:t>radiologists with interpretable AI outputs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200" b="1" dirty="0"/>
              <a:t>Nutrition &amp; Dietetics Support </a:t>
            </a:r>
            <a:r>
              <a:rPr lang="en-IN" sz="2200" b="1" dirty="0" smtClean="0"/>
              <a:t>Module: </a:t>
            </a:r>
            <a:r>
              <a:rPr lang="en-IN" sz="2200" dirty="0" smtClean="0"/>
              <a:t>Post-diagnosis </a:t>
            </a:r>
            <a:r>
              <a:rPr lang="en-IN" sz="2200" dirty="0"/>
              <a:t>dietary guidance for patient </a:t>
            </a:r>
            <a:r>
              <a:rPr lang="en-IN" sz="2200" dirty="0" smtClean="0"/>
              <a:t>well-being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2200" dirty="0"/>
          </a:p>
          <a:p>
            <a:pPr marL="342900" indent="-342900">
              <a:buFont typeface="Arial" pitchFamily="34" charset="0"/>
              <a:buChar char="•"/>
            </a:pPr>
            <a:r>
              <a:rPr lang="en-IN" sz="2200" b="1" dirty="0"/>
              <a:t>Web-Based User </a:t>
            </a:r>
            <a:r>
              <a:rPr lang="en-IN" sz="2200" b="1" dirty="0" smtClean="0"/>
              <a:t>Interface: </a:t>
            </a:r>
            <a:r>
              <a:rPr lang="en-IN" sz="2200" dirty="0" smtClean="0"/>
              <a:t>Flask-based </a:t>
            </a:r>
            <a:r>
              <a:rPr lang="en-IN" sz="2200" dirty="0"/>
              <a:t>system for image upload and result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5704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0215-41E1-90CC-E5F6-B2DCB91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xmlns="" id="{F84B63DE-EB36-9238-01CD-DC99FEDC6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68248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xmlns="" id="{58EB35B0-FAF5-5753-6C58-ECC6246DC74B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sz="4800" dirty="0" smtClean="0">
                <a:solidFill>
                  <a:schemeClr val="bg1"/>
                </a:solidFill>
              </a:rPr>
              <a:t>MODEL ARCHITECTURE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67666" y="1600008"/>
            <a:ext cx="925509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IN" sz="3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09" b="12554"/>
          <a:stretch/>
        </p:blipFill>
        <p:spPr>
          <a:xfrm>
            <a:off x="3066963" y="2006600"/>
            <a:ext cx="6056499" cy="41872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37200" y="3926840"/>
            <a:ext cx="90424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000" dirty="0" smtClean="0"/>
              <a:t>Raw</a:t>
            </a:r>
          </a:p>
          <a:p>
            <a:r>
              <a:rPr lang="en-IN" sz="1000" dirty="0" smtClean="0"/>
              <a:t>Mammogram</a:t>
            </a:r>
            <a:endParaRPr lang="en-IN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6949440" y="3970438"/>
            <a:ext cx="9093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000" dirty="0" smtClean="0"/>
              <a:t>Processed</a:t>
            </a:r>
          </a:p>
          <a:p>
            <a:r>
              <a:rPr lang="en-IN" sz="1000" dirty="0" smtClean="0"/>
              <a:t>Mammogram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225" y="4897119"/>
            <a:ext cx="63246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800" dirty="0" smtClean="0"/>
              <a:t>Prediction &amp; Features</a:t>
            </a:r>
          </a:p>
          <a:p>
            <a:endParaRPr lang="en-IN" sz="800" dirty="0"/>
          </a:p>
        </p:txBody>
      </p:sp>
      <p:sp>
        <p:nvSpPr>
          <p:cNvPr id="10" name="TextBox 9"/>
          <p:cNvSpPr txBox="1"/>
          <p:nvPr/>
        </p:nvSpPr>
        <p:spPr>
          <a:xfrm>
            <a:off x="4429760" y="4851399"/>
            <a:ext cx="110744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000" dirty="0" err="1" smtClean="0"/>
              <a:t>Tensorflow</a:t>
            </a:r>
            <a:r>
              <a:rPr lang="en-IN" sz="1000" dirty="0" smtClean="0"/>
              <a:t>/</a:t>
            </a:r>
            <a:r>
              <a:rPr lang="en-IN" sz="1000" dirty="0" err="1" smtClean="0"/>
              <a:t>Keras</a:t>
            </a:r>
            <a:endParaRPr lang="en-IN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4183441" y="1606490"/>
            <a:ext cx="360002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/>
              <a:t>UML Component Diagram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4355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0215-41E1-90CC-E5F6-B2DCB91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xmlns="" id="{F84B63DE-EB36-9238-01CD-DC99FEDC6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68248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xmlns="" id="{58EB35B0-FAF5-5753-6C58-ECC6246DC74B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sz="4800" dirty="0" smtClean="0">
                <a:solidFill>
                  <a:schemeClr val="bg1"/>
                </a:solidFill>
              </a:rPr>
              <a:t>DATA FLOW STRUCTURE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18" b="29129"/>
          <a:stretch/>
        </p:blipFill>
        <p:spPr>
          <a:xfrm>
            <a:off x="1324616" y="1642001"/>
            <a:ext cx="9541197" cy="40505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38881" y="3718557"/>
            <a:ext cx="152918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5584765" y="4722602"/>
            <a:ext cx="116316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050" dirty="0" smtClean="0"/>
              <a:t>Benign/Malignant</a:t>
            </a:r>
            <a:endParaRPr lang="en-IN" sz="1050" dirty="0"/>
          </a:p>
        </p:txBody>
      </p:sp>
      <p:sp>
        <p:nvSpPr>
          <p:cNvPr id="9" name="TextBox 8"/>
          <p:cNvSpPr txBox="1"/>
          <p:nvPr/>
        </p:nvSpPr>
        <p:spPr>
          <a:xfrm>
            <a:off x="2921000" y="3703168"/>
            <a:ext cx="127846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050" dirty="0" smtClean="0"/>
              <a:t>Raw </a:t>
            </a:r>
            <a:r>
              <a:rPr lang="en-IN" sz="1100" dirty="0" smtClean="0"/>
              <a:t>Mammogram</a:t>
            </a:r>
            <a:endParaRPr lang="en-IN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4089401" y="4495960"/>
            <a:ext cx="89746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000" dirty="0" smtClean="0"/>
              <a:t>Training Data</a:t>
            </a:r>
          </a:p>
          <a:p>
            <a:r>
              <a:rPr lang="en-IN" sz="1000" dirty="0" smtClean="0"/>
              <a:t>Mammogram</a:t>
            </a:r>
            <a:endParaRPr lang="en-IN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7996767" y="2988735"/>
            <a:ext cx="12573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Prediction</a:t>
            </a:r>
          </a:p>
          <a:p>
            <a:r>
              <a:rPr lang="en-IN" sz="1100" dirty="0" smtClean="0"/>
              <a:t>(Benign/Malignant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7658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0215-41E1-90CC-E5F6-B2DCB91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xmlns="" id="{F84B63DE-EB36-9238-01CD-DC99FEDC6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68248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xmlns="" id="{58EB35B0-FAF5-5753-6C58-ECC6246DC74B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sz="4800" dirty="0" smtClean="0">
                <a:solidFill>
                  <a:schemeClr val="bg1"/>
                </a:solidFill>
              </a:rPr>
              <a:t>FINAL OUTPUT – WEBSITE (HOMEPAGE)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088" y="1211640"/>
            <a:ext cx="10170253" cy="4770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414000" y="1312333"/>
            <a:ext cx="5503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48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0215-41E1-90CC-E5F6-B2DCB91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xmlns="" id="{F84B63DE-EB36-9238-01CD-DC99FEDC6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68248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xmlns="" id="{58EB35B0-FAF5-5753-6C58-ECC6246DC74B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sz="4800" dirty="0" smtClean="0">
                <a:solidFill>
                  <a:schemeClr val="bg1"/>
                </a:solidFill>
              </a:rPr>
              <a:t>HOME PAGE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67666" y="1600008"/>
            <a:ext cx="925509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IN" sz="3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533" y="1243650"/>
            <a:ext cx="10297360" cy="4695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439401" y="1361532"/>
            <a:ext cx="66886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504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0215-41E1-90CC-E5F6-B2DCB91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xmlns="" id="{F84B63DE-EB36-9238-01CD-DC99FEDC6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68248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xmlns="" id="{58EB35B0-FAF5-5753-6C58-ECC6246DC74B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sz="4800" dirty="0" smtClean="0">
                <a:solidFill>
                  <a:schemeClr val="bg1"/>
                </a:solidFill>
              </a:rPr>
              <a:t>DIAGNOSIS SECTION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67666" y="1600008"/>
            <a:ext cx="925509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IN" sz="3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96" y="1294425"/>
            <a:ext cx="10333038" cy="4840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414000" y="1312333"/>
            <a:ext cx="7281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7122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0215-41E1-90CC-E5F6-B2DCB91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xmlns="" id="{F84B63DE-EB36-9238-01CD-DC99FEDC6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68248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xmlns="" id="{58EB35B0-FAF5-5753-6C58-ECC6246DC74B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sz="4800" dirty="0" smtClean="0">
                <a:solidFill>
                  <a:schemeClr val="bg1"/>
                </a:solidFill>
              </a:rPr>
              <a:t>DIAGNOSIS – ANALYSIS RESULTS (MALIGNANT)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67666" y="1600008"/>
            <a:ext cx="925509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IN" sz="3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281494"/>
            <a:ext cx="4969643" cy="2732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514" y="1143274"/>
            <a:ext cx="4233945" cy="5197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552" y="4092184"/>
            <a:ext cx="5870843" cy="2076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85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0215-41E1-90CC-E5F6-B2DCB91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xmlns="" id="{F84B63DE-EB36-9238-01CD-DC99FEDC6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68248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xmlns="" id="{58EB35B0-FAF5-5753-6C58-ECC6246DC74B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sz="4800" dirty="0" smtClean="0">
                <a:solidFill>
                  <a:schemeClr val="bg1"/>
                </a:solidFill>
              </a:rPr>
              <a:t>DIAGNOSIS – ANALYSIS RESULTS (BENIGN)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67666" y="1600008"/>
            <a:ext cx="925509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IN" sz="3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1" y="1303190"/>
            <a:ext cx="5143499" cy="266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913" y="1143274"/>
            <a:ext cx="4325487" cy="4698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579" y="3949326"/>
            <a:ext cx="6152334" cy="2142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428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0215-41E1-90CC-E5F6-B2DCB91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xmlns="" id="{F84B63DE-EB36-9238-01CD-DC99FEDC6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68248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xmlns="" id="{58EB35B0-FAF5-5753-6C58-ECC6246DC74B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sz="4800" dirty="0" smtClean="0">
                <a:solidFill>
                  <a:schemeClr val="bg1"/>
                </a:solidFill>
              </a:rPr>
              <a:t>NUTRITION SECTION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67666" y="1600008"/>
            <a:ext cx="925509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IN" sz="3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95" y="1143274"/>
            <a:ext cx="10928435" cy="4965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722762" y="1205084"/>
            <a:ext cx="6733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93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FC0215-41E1-90CC-E5F6-B2DCB918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xmlns="" id="{F84B63DE-EB36-9238-01CD-DC99FEDC6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68248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xmlns="" id="{58EB35B0-FAF5-5753-6C58-ECC6246DC74B}"/>
              </a:ext>
            </a:extLst>
          </p:cNvPr>
          <p:cNvSpPr txBox="1">
            <a:spLocks/>
          </p:cNvSpPr>
          <p:nvPr/>
        </p:nvSpPr>
        <p:spPr>
          <a:xfrm>
            <a:off x="9" y="9"/>
            <a:ext cx="12190413" cy="1143265"/>
          </a:xfrm>
          <a:prstGeom prst="rect">
            <a:avLst/>
          </a:prstGeom>
          <a:solidFill>
            <a:srgbClr val="0000FF"/>
          </a:solidFill>
        </p:spPr>
        <p:txBody>
          <a:bodyPr vert="horz" lIns="81608" tIns="40805" rIns="81608" bIns="40805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sz="4800" dirty="0" smtClean="0">
                <a:solidFill>
                  <a:schemeClr val="bg1"/>
                </a:solidFill>
              </a:rPr>
              <a:t>FUTURE ENHANCEMENT</a:t>
            </a:r>
            <a:endParaRPr lang="en-I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 Condensed" panose="020B0606020104020203" pitchFamily="34" charset="0"/>
              <a:cs typeface="Andalus" pitchFamily="18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1310712"/>
            <a:ext cx="11049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200" b="1" dirty="0"/>
              <a:t>Patient-Level </a:t>
            </a:r>
            <a:r>
              <a:rPr lang="en-US" sz="2200" b="1" dirty="0" smtClean="0"/>
              <a:t>Diagnosis: </a:t>
            </a:r>
            <a:r>
              <a:rPr lang="en-US" sz="2200" dirty="0" smtClean="0"/>
              <a:t>Instead </a:t>
            </a:r>
            <a:r>
              <a:rPr lang="en-US" sz="2200" dirty="0"/>
              <a:t>of single-image predictions, multiple mammogram views (CC and MLO of both breasts) can be combined to generate a comprehensive patient-level diagnosis</a:t>
            </a:r>
            <a:r>
              <a:rPr lang="en-US" sz="2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b="1" dirty="0" smtClean="0"/>
              <a:t>Integration </a:t>
            </a:r>
            <a:r>
              <a:rPr lang="en-US" sz="2200" b="1" dirty="0"/>
              <a:t>with DICOM </a:t>
            </a:r>
            <a:r>
              <a:rPr lang="en-US" sz="2200" b="1" dirty="0" smtClean="0"/>
              <a:t>Standards: </a:t>
            </a:r>
            <a:r>
              <a:rPr lang="en-US" sz="2200" dirty="0" smtClean="0"/>
              <a:t>Future </a:t>
            </a:r>
            <a:r>
              <a:rPr lang="en-US" sz="2200" dirty="0"/>
              <a:t>versions can support DICOM format images, enabling direct integration with hospital Picture Archiving and Communication Systems (PACS</a:t>
            </a:r>
            <a:r>
              <a:rPr lang="en-US" sz="2200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b="1" dirty="0" smtClean="0"/>
              <a:t>3D </a:t>
            </a:r>
            <a:r>
              <a:rPr lang="en-US" sz="2200" b="1" dirty="0"/>
              <a:t>and Multimodal Imaging </a:t>
            </a:r>
            <a:r>
              <a:rPr lang="en-US" sz="2200" b="1" dirty="0" smtClean="0"/>
              <a:t>Support: </a:t>
            </a:r>
            <a:r>
              <a:rPr lang="en-US" sz="2200" dirty="0" smtClean="0"/>
              <a:t>The </a:t>
            </a:r>
            <a:r>
              <a:rPr lang="en-US" sz="2200" dirty="0"/>
              <a:t>system can be expanded to analyze additional imaging modalities such as ultrasound and MRI along with mammograms for enhanced diagnosis</a:t>
            </a:r>
            <a:r>
              <a:rPr lang="en-US" sz="2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b="1" dirty="0" smtClean="0"/>
              <a:t>Clinical Validation and Expert Feedback: </a:t>
            </a:r>
            <a:r>
              <a:rPr lang="en-US" sz="2200" dirty="0" smtClean="0"/>
              <a:t>Incorporating </a:t>
            </a:r>
            <a:r>
              <a:rPr lang="en-US" sz="2200" dirty="0"/>
              <a:t>radiologist feedback and clinical trials can help refine model predictions and improve real-world applicability</a:t>
            </a:r>
            <a:r>
              <a:rPr lang="en-US" sz="22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b="1" dirty="0" smtClean="0"/>
              <a:t>Real-Time </a:t>
            </a:r>
            <a:r>
              <a:rPr lang="en-US" sz="2200" b="1" dirty="0"/>
              <a:t>Deployment and Cloud </a:t>
            </a:r>
            <a:r>
              <a:rPr lang="en-US" sz="2200" b="1" dirty="0" smtClean="0"/>
              <a:t>Integration: </a:t>
            </a:r>
            <a:r>
              <a:rPr lang="en-US" sz="2200" dirty="0" smtClean="0"/>
              <a:t>Deploying </a:t>
            </a:r>
            <a:r>
              <a:rPr lang="en-US" sz="2200" dirty="0"/>
              <a:t>the system on cloud platforms would allow real-time access, scalability, and remote usage in hospitals and diagnostic centers.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26325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thank you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200400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1" y="13855"/>
            <a:ext cx="6033739" cy="372080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E87CF28-B4C5-431E-81B2-CB3A3B136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862AC-8176-4D8A-A9AA-E7FB68D56D1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465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6282</TotalTime>
  <Words>689</Words>
  <Application>Microsoft Office PowerPoint</Application>
  <PresentationFormat>Custom</PresentationFormat>
  <Paragraphs>142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Database</vt:lpstr>
      <vt:lpstr>Database</vt:lpstr>
      <vt:lpstr>Database</vt:lpstr>
      <vt:lpstr>Database</vt:lpstr>
      <vt:lpstr>Database</vt:lpstr>
      <vt:lpstr>Database</vt:lpstr>
      <vt:lpstr>Database</vt:lpstr>
      <vt:lpstr>Database</vt:lpstr>
      <vt:lpstr>Database</vt:lpstr>
      <vt:lpstr>Database</vt:lpstr>
      <vt:lpstr>Database</vt:lpstr>
      <vt:lpstr>Database</vt:lpstr>
      <vt:lpstr>Database</vt:lpstr>
      <vt:lpstr>Database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HARICCHARAN</dc:creator>
  <cp:lastModifiedBy>Dell</cp:lastModifiedBy>
  <cp:revision>261</cp:revision>
  <dcterms:created xsi:type="dcterms:W3CDTF">2024-06-19T16:19:35Z</dcterms:created>
  <dcterms:modified xsi:type="dcterms:W3CDTF">2026-01-09T01:03:45Z</dcterms:modified>
</cp:coreProperties>
</file>